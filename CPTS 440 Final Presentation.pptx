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4728D6D-C47C-B9AB-8870-860DF31B3EEE}" v="186" dt="2026-04-27T19:22:39.96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5" d="100"/>
          <a:sy n="65" d="100"/>
        </p:scale>
        <p:origin x="90" y="17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37CC98-DB8A-46BD-8B61-628722439852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C4595B71-0D70-4D03-A0C7-195AB8569753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211932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37CC98-DB8A-46BD-8B61-628722439852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595B71-0D70-4D03-A0C7-195AB8569753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331359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37CC98-DB8A-46BD-8B61-628722439852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595B71-0D70-4D03-A0C7-195AB8569753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471089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37CC98-DB8A-46BD-8B61-628722439852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595B71-0D70-4D03-A0C7-195AB8569753}" type="slidenum">
              <a:rPr lang="en-US" smtClean="0"/>
              <a:t>‹#›</a:t>
            </a:fld>
            <a:endParaRPr lang="en-US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352336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37CC98-DB8A-46BD-8B61-628722439852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595B71-0D70-4D03-A0C7-195AB8569753}" type="slidenum">
              <a:rPr lang="en-US" smtClean="0"/>
              <a:t>‹#›</a:t>
            </a:fld>
            <a:endParaRPr lang="en-US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72579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37CC98-DB8A-46BD-8B61-628722439852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595B71-0D70-4D03-A0C7-195AB8569753}" type="slidenum">
              <a:rPr lang="en-US" smtClean="0"/>
              <a:t>‹#›</a:t>
            </a:fld>
            <a:endParaRPr lang="en-US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381339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37CC98-DB8A-46BD-8B61-628722439852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595B71-0D70-4D03-A0C7-195AB85697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57211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37CC98-DB8A-46BD-8B61-628722439852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595B71-0D70-4D03-A0C7-195AB8569753}" type="slidenum">
              <a:rPr lang="en-US" smtClean="0"/>
              <a:t>‹#›</a:t>
            </a:fld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427491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6E37CC98-DB8A-46BD-8B61-628722439852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595B71-0D70-4D03-A0C7-195AB8569753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93593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37CC98-DB8A-46BD-8B61-628722439852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595B71-0D70-4D03-A0C7-195AB8569753}" type="slidenum">
              <a:rPr lang="en-US" smtClean="0"/>
              <a:t>‹#›</a:t>
            </a:fld>
            <a:endParaRPr lang="en-US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792568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37CC98-DB8A-46BD-8B61-628722439852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595B71-0D70-4D03-A0C7-195AB8569753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700240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37CC98-DB8A-46BD-8B61-628722439852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C4595B71-0D70-4D03-A0C7-195AB8569753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352444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F1AD4E-9931-0232-7520-BC5B4CBF388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Chess AI Using Adversarial Search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2AEE87C-06FB-470E-E0B2-40FED168C0E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Kaitlyn Cornish, Eli Lawerence, Alice Hui</a:t>
            </a:r>
            <a:br>
              <a:rPr lang="en-US"/>
            </a:br>
            <a:r>
              <a:rPr lang="en-US"/>
              <a:t>CPTS 440</a:t>
            </a:r>
          </a:p>
        </p:txBody>
      </p:sp>
    </p:spTree>
    <p:extLst>
      <p:ext uri="{BB962C8B-B14F-4D97-AF65-F5344CB8AC3E}">
        <p14:creationId xmlns:p14="http://schemas.microsoft.com/office/powerpoint/2010/main" val="9299536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6C1727-1F86-1645-1D2B-178369F056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Problem &amp; Goal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6762B4-69AA-92B5-50C5-BBB3BAAAA3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/>
              <a:t>Problem:</a:t>
            </a:r>
            <a:endParaRPr lang="en-US"/>
          </a:p>
          <a:p>
            <a:r>
              <a:rPr lang="en-US"/>
              <a:t>Chess has huge search space </a:t>
            </a:r>
          </a:p>
          <a:p>
            <a:r>
              <a:rPr lang="en-US"/>
              <a:t>Requires planning multiple moves ahead </a:t>
            </a:r>
          </a:p>
          <a:p>
            <a:pPr marL="0" indent="0">
              <a:buNone/>
            </a:pPr>
            <a:r>
              <a:rPr lang="en-US" b="1"/>
              <a:t>Goal:</a:t>
            </a:r>
            <a:endParaRPr lang="en-US"/>
          </a:p>
          <a:p>
            <a:r>
              <a:rPr lang="en-US"/>
              <a:t>Build intelligent AI using: </a:t>
            </a:r>
          </a:p>
          <a:p>
            <a:pPr lvl="1"/>
            <a:r>
              <a:rPr lang="en-US"/>
              <a:t>Minimax </a:t>
            </a:r>
          </a:p>
          <a:p>
            <a:pPr lvl="1"/>
            <a:r>
              <a:rPr lang="en-US"/>
              <a:t>Alpha-Beta pruning </a:t>
            </a:r>
          </a:p>
          <a:p>
            <a:r>
              <a:rPr lang="en-US"/>
              <a:t>Compare performance and efficiency</a:t>
            </a:r>
          </a:p>
        </p:txBody>
      </p:sp>
    </p:spTree>
    <p:extLst>
      <p:ext uri="{BB962C8B-B14F-4D97-AF65-F5344CB8AC3E}">
        <p14:creationId xmlns:p14="http://schemas.microsoft.com/office/powerpoint/2010/main" val="23616090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DD8931-290C-F6EC-DD57-8C28C3E3B0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Approach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20BFC5-1E80-5EC5-FA1F-67D9EDD8CE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/>
              <a:t>System:</a:t>
            </a:r>
            <a:endParaRPr lang="en-US"/>
          </a:p>
          <a:p>
            <a:pPr lvl="1"/>
            <a:r>
              <a:rPr lang="en-US"/>
              <a:t>Chess board state </a:t>
            </a:r>
          </a:p>
          <a:p>
            <a:pPr lvl="1"/>
            <a:r>
              <a:rPr lang="en-US"/>
              <a:t>Generate legal moves </a:t>
            </a:r>
          </a:p>
          <a:p>
            <a:pPr lvl="1"/>
            <a:r>
              <a:rPr lang="en-US"/>
              <a:t>Apply search algorithm </a:t>
            </a:r>
          </a:p>
          <a:p>
            <a:pPr lvl="1"/>
            <a:r>
              <a:rPr lang="en-US"/>
              <a:t>Evaluate board </a:t>
            </a:r>
          </a:p>
          <a:p>
            <a:pPr lvl="1"/>
            <a:r>
              <a:rPr lang="en-US"/>
              <a:t>Choose best move</a:t>
            </a:r>
          </a:p>
        </p:txBody>
      </p:sp>
    </p:spTree>
    <p:extLst>
      <p:ext uri="{BB962C8B-B14F-4D97-AF65-F5344CB8AC3E}">
        <p14:creationId xmlns:p14="http://schemas.microsoft.com/office/powerpoint/2010/main" val="38794664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6B8D44-76BE-3B3D-B024-EE67746B66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/>
              <a:t>MiniMax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C5F256-42C3-8C8A-65F2-036C636C20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/>
              <a:t>Key Idea:</a:t>
            </a:r>
            <a:endParaRPr lang="en-US"/>
          </a:p>
          <a:p>
            <a:pPr lvl="1"/>
            <a:r>
              <a:rPr lang="en-US"/>
              <a:t>Maximizing player (AI) </a:t>
            </a:r>
          </a:p>
          <a:p>
            <a:pPr lvl="1"/>
            <a:r>
              <a:rPr lang="en-US"/>
              <a:t>Minimizing player (opponent) </a:t>
            </a:r>
          </a:p>
          <a:p>
            <a:r>
              <a:rPr lang="en-US" b="1"/>
              <a:t>How it works:</a:t>
            </a:r>
            <a:endParaRPr lang="en-US"/>
          </a:p>
          <a:p>
            <a:pPr lvl="1"/>
            <a:r>
              <a:rPr lang="en-US"/>
              <a:t>Explore all moves to fixed depth</a:t>
            </a:r>
          </a:p>
          <a:p>
            <a:pPr lvl="1"/>
            <a:r>
              <a:rPr lang="en-US"/>
              <a:t>Uses evaluation function at leaf nodes</a:t>
            </a:r>
          </a:p>
          <a:p>
            <a:pPr lvl="1"/>
            <a:r>
              <a:rPr lang="en-US"/>
              <a:t>Returns best move by backtracking scores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64072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5AC9AE-8C58-1394-3D18-1BF5FAEE79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Alpha-Beta Pruning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ABB916-AD7C-4A09-064D-ACD48C3BD6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/>
              <a:t>Improvement over Minimax:</a:t>
            </a:r>
            <a:endParaRPr lang="en-US"/>
          </a:p>
          <a:p>
            <a:pPr lvl="1"/>
            <a:r>
              <a:rPr lang="en-US"/>
              <a:t>Skips unnecessary branches </a:t>
            </a:r>
          </a:p>
          <a:p>
            <a:pPr lvl="1"/>
            <a:r>
              <a:rPr lang="en-US"/>
              <a:t>Uses alpha and beta bounds </a:t>
            </a:r>
          </a:p>
          <a:p>
            <a:r>
              <a:rPr lang="en-US" b="1"/>
              <a:t>Result:</a:t>
            </a:r>
            <a:endParaRPr lang="en-US"/>
          </a:p>
          <a:p>
            <a:pPr lvl="1"/>
            <a:r>
              <a:rPr lang="en-US"/>
              <a:t>Same decision quality </a:t>
            </a:r>
          </a:p>
          <a:p>
            <a:pPr lvl="1"/>
            <a:r>
              <a:rPr lang="en-US"/>
              <a:t>Much faster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65990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2DF940-1BB5-731C-AB3F-AD704C22B3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Evaluation Function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A8F542-8D20-7F4C-3F4E-9CD6EA995B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b="1"/>
              <a:t>We evaluate board states using:</a:t>
            </a:r>
            <a:endParaRPr lang="en-US"/>
          </a:p>
          <a:p>
            <a:r>
              <a:rPr lang="en-US"/>
              <a:t>Material (piece values) </a:t>
            </a:r>
          </a:p>
          <a:p>
            <a:r>
              <a:rPr lang="en-US"/>
              <a:t>Position (piece-</a:t>
            </a:r>
            <a:r>
              <a:rPr lang="en-US" err="1"/>
              <a:t>squ</a:t>
            </a:r>
            <a:r>
              <a:rPr lang="en-US"/>
              <a:t>are tables)</a:t>
            </a:r>
          </a:p>
          <a:p>
            <a:r>
              <a:rPr lang="en-US"/>
              <a:t>Mobility (legal moves) </a:t>
            </a:r>
          </a:p>
          <a:p>
            <a:r>
              <a:rPr lang="en-US"/>
              <a:t>Center control (attach + occupation)</a:t>
            </a:r>
          </a:p>
          <a:p>
            <a:r>
              <a:rPr lang="en-US"/>
              <a:t>Pawn structure (isolated, doubled)</a:t>
            </a:r>
          </a:p>
          <a:p>
            <a:r>
              <a:rPr lang="en-US"/>
              <a:t>King safety (castling bonus)</a:t>
            </a:r>
          </a:p>
          <a:p>
            <a:r>
              <a:rPr lang="en-US"/>
              <a:t>Bishop pair bonus</a:t>
            </a:r>
          </a:p>
          <a:p>
            <a:r>
              <a:rPr lang="en-US"/>
              <a:t>Checkmate detection</a:t>
            </a:r>
          </a:p>
          <a:p>
            <a:pPr marL="0" indent="0"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15327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7ABC27-5F3E-49CC-7B6C-7D7DC6C6F1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Experiments Setup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C719C7-2810-B229-ED51-97E3102072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/>
              <a:t>We tested:</a:t>
            </a:r>
            <a:endParaRPr lang="en-US"/>
          </a:p>
          <a:p>
            <a:pPr lvl="1"/>
            <a:r>
              <a:rPr lang="en-US"/>
              <a:t>Minimax vs Alpha-Beta </a:t>
            </a:r>
          </a:p>
          <a:p>
            <a:pPr lvl="1"/>
            <a:r>
              <a:rPr lang="en-US"/>
              <a:t>Depths: 1, 2, 3 </a:t>
            </a:r>
          </a:p>
          <a:p>
            <a:pPr lvl="1"/>
            <a:r>
              <a:rPr lang="en-US"/>
              <a:t>Self-play games </a:t>
            </a:r>
          </a:p>
          <a:p>
            <a:r>
              <a:rPr lang="en-US" b="1"/>
              <a:t>Metrics:</a:t>
            </a:r>
            <a:endParaRPr lang="en-US"/>
          </a:p>
          <a:p>
            <a:pPr lvl="1"/>
            <a:r>
              <a:rPr lang="en-US"/>
              <a:t>Time </a:t>
            </a:r>
          </a:p>
          <a:p>
            <a:pPr lvl="1"/>
            <a:r>
              <a:rPr lang="en-US"/>
              <a:t>Nodes explored </a:t>
            </a:r>
          </a:p>
          <a:p>
            <a:pPr lvl="1"/>
            <a:r>
              <a:rPr lang="en-US"/>
              <a:t>Avg time per move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21316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533686-AD02-33B6-AE7D-E969ADB881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D66026-6E1D-EC9F-F423-D0D68A6ECA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b="1"/>
              <a:t>Big Differences:</a:t>
            </a:r>
            <a:endParaRPr lang="en-US"/>
          </a:p>
          <a:p>
            <a:pPr lvl="1"/>
            <a:r>
              <a:rPr lang="en-US"/>
              <a:t>Depth 3:</a:t>
            </a:r>
          </a:p>
          <a:p>
            <a:pPr lvl="2"/>
            <a:r>
              <a:rPr lang="en-US"/>
              <a:t>Alpha-Beta: ~1,045,073 nodes </a:t>
            </a:r>
          </a:p>
          <a:p>
            <a:pPr lvl="2"/>
            <a:r>
              <a:rPr lang="en-US"/>
              <a:t>Minimax: ~4,672,426 nodes </a:t>
            </a:r>
          </a:p>
          <a:p>
            <a:pPr lvl="1"/>
            <a:r>
              <a:rPr lang="en-US"/>
              <a:t>Time:</a:t>
            </a:r>
          </a:p>
          <a:p>
            <a:pPr lvl="2"/>
            <a:r>
              <a:rPr lang="en-US"/>
              <a:t>Alpha-Beta: ~268–711 sec </a:t>
            </a:r>
          </a:p>
          <a:p>
            <a:pPr lvl="2"/>
            <a:r>
              <a:rPr lang="en-US"/>
              <a:t>Minimax: up to </a:t>
            </a:r>
            <a:r>
              <a:rPr lang="en-US" b="1"/>
              <a:t>3231 sec</a:t>
            </a:r>
            <a:r>
              <a:rPr lang="en-US"/>
              <a:t> </a:t>
            </a:r>
          </a:p>
          <a:p>
            <a:pPr lvl="1"/>
            <a:r>
              <a:rPr lang="en-US"/>
              <a:t>Depth 2:</a:t>
            </a:r>
          </a:p>
          <a:p>
            <a:pPr lvl="2"/>
            <a:r>
              <a:rPr lang="en-US"/>
              <a:t>Alpha-Beta ~4 sec </a:t>
            </a:r>
          </a:p>
          <a:p>
            <a:pPr lvl="2"/>
            <a:r>
              <a:rPr lang="en-US"/>
              <a:t>Minimax ~33 sec </a:t>
            </a:r>
          </a:p>
          <a:p>
            <a:r>
              <a:rPr lang="en-US" b="1"/>
              <a:t>Conclusion:</a:t>
            </a:r>
            <a:endParaRPr lang="en-US"/>
          </a:p>
          <a:p>
            <a:pPr lvl="1"/>
            <a:r>
              <a:rPr lang="en-US"/>
              <a:t>Alpha-Beta = </a:t>
            </a:r>
            <a:r>
              <a:rPr lang="en-US" b="1"/>
              <a:t>~4–5x fewer nodes</a:t>
            </a:r>
            <a:r>
              <a:rPr lang="en-US"/>
              <a:t> </a:t>
            </a:r>
          </a:p>
          <a:p>
            <a:pPr lvl="1"/>
            <a:r>
              <a:rPr lang="en-US"/>
              <a:t>Much faster scaling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17477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63C909-6DB3-0EB9-260E-19E81091E0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Demo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A24528-BD0B-D5D4-E6B9-AF0E20D81B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/>
              <a:t>Quick demo of the working system!</a:t>
            </a:r>
          </a:p>
        </p:txBody>
      </p:sp>
    </p:spTree>
    <p:extLst>
      <p:ext uri="{BB962C8B-B14F-4D97-AF65-F5344CB8AC3E}">
        <p14:creationId xmlns:p14="http://schemas.microsoft.com/office/powerpoint/2010/main" val="1294099117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A2FA0264980EC4092263B7A3FAFC0E8" ma:contentTypeVersion="17" ma:contentTypeDescription="Create a new document." ma:contentTypeScope="" ma:versionID="8ac77f62caf310fb62eff99bf4311459">
  <xsd:schema xmlns:xsd="http://www.w3.org/2001/XMLSchema" xmlns:xs="http://www.w3.org/2001/XMLSchema" xmlns:p="http://schemas.microsoft.com/office/2006/metadata/properties" xmlns:ns3="33f32a55-201f-4498-af48-72d36cec5607" xmlns:ns4="0117c8ae-df27-450a-9603-da338bd99e00" targetNamespace="http://schemas.microsoft.com/office/2006/metadata/properties" ma:root="true" ma:fieldsID="f61ba90ebb438f3b68f3a2bcc6c73413" ns3:_="" ns4:_="">
    <xsd:import namespace="33f32a55-201f-4498-af48-72d36cec5607"/>
    <xsd:import namespace="0117c8ae-df27-450a-9603-da338bd99e00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4:SharedWithUsers" minOccurs="0"/>
                <xsd:element ref="ns4:SharedWithDetails" minOccurs="0"/>
                <xsd:element ref="ns4:SharingHintHash" minOccurs="0"/>
                <xsd:element ref="ns3:_activity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ServiceObjectDetectorVersions" minOccurs="0"/>
                <xsd:element ref="ns3:MediaServiceSystemTags" minOccurs="0"/>
                <xsd:element ref="ns3:MediaServiceSearchProperties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3f32a55-201f-4498-af48-72d36cec560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_activity" ma:index="15" nillable="true" ma:displayName="_activity" ma:hidden="true" ma:internalName="_activity">
      <xsd:simpleType>
        <xsd:restriction base="dms:Note"/>
      </xsd:simpleType>
    </xsd:element>
    <xsd:element name="MediaServiceAutoTags" ma:index="16" nillable="true" ma:displayName="Tags" ma:internalName="MediaServiceAutoTags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20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2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LengthInSeconds" ma:index="24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117c8ae-df27-450a-9603-da338bd99e00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4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33f32a55-201f-4498-af48-72d36cec5607" xsi:nil="true"/>
  </documentManagement>
</p:properties>
</file>

<file path=customXml/itemProps1.xml><?xml version="1.0" encoding="utf-8"?>
<ds:datastoreItem xmlns:ds="http://schemas.openxmlformats.org/officeDocument/2006/customXml" ds:itemID="{B7DD667F-5BCA-4F98-9DE5-4768B10F8910}">
  <ds:schemaRefs>
    <ds:schemaRef ds:uri="0117c8ae-df27-450a-9603-da338bd99e00"/>
    <ds:schemaRef ds:uri="33f32a55-201f-4498-af48-72d36cec5607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B0D21102-3C3B-4D54-9A90-A6957585C66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5023DF2-7959-40FD-B7C1-110BF4565B7D}">
  <ds:schemaRefs>
    <ds:schemaRef ds:uri="33f32a55-201f-4498-af48-72d36cec5607"/>
    <ds:schemaRef ds:uri="http://www.w3.org/XML/1998/namespace"/>
    <ds:schemaRef ds:uri="http://schemas.microsoft.com/office/infopath/2007/PartnerControls"/>
    <ds:schemaRef ds:uri="http://purl.org/dc/dcmitype/"/>
    <ds:schemaRef ds:uri="http://schemas.openxmlformats.org/package/2006/metadata/core-properties"/>
    <ds:schemaRef ds:uri="http://schemas.microsoft.com/office/2006/metadata/properties"/>
    <ds:schemaRef ds:uri="http://purl.org/dc/elements/1.1/"/>
    <ds:schemaRef ds:uri="http://schemas.microsoft.com/office/2006/documentManagement/types"/>
    <ds:schemaRef ds:uri="http://purl.org/dc/terms/"/>
    <ds:schemaRef ds:uri="0117c8ae-df27-450a-9603-da338bd99e00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0</TotalTime>
  <Words>254</Words>
  <Application>Microsoft Office PowerPoint</Application>
  <PresentationFormat>Widescreen</PresentationFormat>
  <Paragraphs>68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Gill Sans MT</vt:lpstr>
      <vt:lpstr>Gallery</vt:lpstr>
      <vt:lpstr>Chess AI Using Adversarial Search</vt:lpstr>
      <vt:lpstr>Problem &amp; Goal</vt:lpstr>
      <vt:lpstr>Approach Overview</vt:lpstr>
      <vt:lpstr>MiniMax</vt:lpstr>
      <vt:lpstr>Alpha-Beta Pruning</vt:lpstr>
      <vt:lpstr>Evaluation Function</vt:lpstr>
      <vt:lpstr>Experiments Setup</vt:lpstr>
      <vt:lpstr>Results</vt:lpstr>
      <vt:lpstr>Demo</vt:lpstr>
    </vt:vector>
  </TitlesOfParts>
  <Company>WSU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Cornish, Kaitlyn Marlaine</dc:creator>
  <cp:lastModifiedBy>Cornish, Kaitlyn Marlaine</cp:lastModifiedBy>
  <cp:revision>1</cp:revision>
  <dcterms:created xsi:type="dcterms:W3CDTF">2026-04-23T16:48:10Z</dcterms:created>
  <dcterms:modified xsi:type="dcterms:W3CDTF">2026-04-27T20:48:56Z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0x0101003A2FA0264980EC4092263B7A3FAFC0E8</vt:lpwstr>
  </property>
</Properties>
</file>